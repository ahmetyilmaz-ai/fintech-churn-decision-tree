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BLM463  ·  VERİ MADENCİLİĞİNE GİRİŞ — DÖNEM PROJESİ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Ağacı ile Müşteri Kayıp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(Churn) Analizi ve Tahmini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60120" y="3520440"/>
            <a:ext cx="219456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749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fintech şirketinin müşteri ve işlem verileri üzerinde, müşteri davranışından churn tahmini yapan, açıklanabilir bir Karar Ağacı modeli.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50292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3315C"/>
          </a:solidFill>
          <a:ln w="12700">
            <a:solidFill>
              <a:srgbClr val="1CA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51663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Yılmaz
</a:t>
            </a:r>
            <a:pPr indent="0" marL="0">
              <a:buNone/>
            </a:pPr>
            <a:r>
              <a:rPr lang="en-US" sz="140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No: 22360859044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0" y="5394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scikit-learn · GridSearchCV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 Amacı ve Kapsam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fintech şirketinin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kayıp (churn) riskini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tahmin etmek amacıyla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sınıflandırma algoritması kullanılmıştır. Model, hangi müşterinin neden kaybedilme riski taşıdığını açıklanabilir biçimde ortaya koyar.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1CA39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90779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metodolojisi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anlama → hazırlama → modelleme → değerlendirme adımları sistematik uygulandı.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rgbClr val="1CA39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95935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sızıntısı kontrolü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işleme train/test ayrımından sonra; türetilmiş/geleceğe dönük kolonlar dışlandı.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1CA39A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01091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Açıklanabilirlik
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ağacı, churn'ü hangi davranışsal özelliğin belirlediğini şeffaf gösterir.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980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KULLANILAN VERİ KAYNAKLARI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178308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0" y="1783080"/>
            <a:ext cx="91440" cy="219456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47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customer_data.csv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0" y="2313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ana veri seti (48.723 satır)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0688" y="26974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Demografik &amp; hesap bilgileri</a:t>
            </a:r>
            <a:endParaRPr lang="en-US" sz="12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Memnuniyet skoru, NPS</a:t>
            </a:r>
            <a:endParaRPr lang="en-US" sz="12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kullanım sıklığı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4114800"/>
            <a:ext cx="4114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4114800"/>
            <a:ext cx="91440" cy="2194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279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transactions_data.csv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4645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logları (3.16M satır)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90688" y="5029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tarihi, miktarı, türü</a:t>
            </a:r>
            <a:endParaRPr lang="en-US" sz="12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Davranışsal özelliklerin kaynağı</a:t>
            </a:r>
            <a:endParaRPr lang="en-US" sz="1250" dirty="0"/>
          </a:p>
          <a:p>
            <a:pPr marL="165100" indent="-1651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başına özetlenir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COFINFAD — Kolombiyalı Fintech Veri Seti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fintech şirketinin 2023 yılı tüm aktif müşteri tabanını kapsayan, anonimleştirilmiş gerçek bir veri seti.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269748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48.723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aktif müşteri tabanı (2023)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19659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965960"/>
            <a:ext cx="269748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2148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3,16M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64992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7872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aylık işlem kaydı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81344" y="19659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965960"/>
            <a:ext cx="269748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2148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81344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64224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Demografi, işlem, memnuniyet, dijital etkileşim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7696" y="1965960"/>
            <a:ext cx="2697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97696" y="1965960"/>
            <a:ext cx="269748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997696" y="21488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≥ 10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997696" y="2926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Anonimlik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80576" y="32461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k-anonimlik doğrulaması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3708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İKİ İLİŞKİSEL DOSYA  (customer_id ile bağlı, 1:N)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754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customer_data.csv </a:t>
            </a:r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müşteri başına 1 satır (54 kolon)  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transactions_data.csv </a:t>
            </a:r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işlem başına 1 satır (3 kolon)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Muñoz-Guerrero, L.E., Ceballos, Y.F. &amp; Trejos-Rojas, L.D. (2026). COFINFAD: A comprehensive dataset of customer behavior in Latin American Fintech. Data in Brief, 65, 112484.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HAZIRLAMA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Özellik Mühendisliği (Feature Engineering)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seviyesindeki verilere, işlem loglarından (transactions) üretilen davranışsal özellikler eklendi.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3611880" cy="50292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İşlem Frekansı &amp; Hacmi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işlem sayısı ve tutarı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Tutarların ort., medyan, std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maks işlem değerleri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0832" y="205740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0832" y="2057400"/>
            <a:ext cx="3611880" cy="5029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Zaman Tabanlı (Temporal)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gün sayısı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işlemden bu yana (Recency)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işlem frekansı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93024" y="2057400"/>
            <a:ext cx="3611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2057400"/>
            <a:ext cx="361188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057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İşlem Tipi Dağılımı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94192" y="2697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Mevduat / Çekme / Transfer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başına işlem sayıları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içindeki oranları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AF2F8"/>
          </a:solidFill>
          <a:ln w="19050">
            <a:solidFill>
              <a:srgbClr val="1CA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Demografik bilgiye, müşterinin gerçek finansal davranışını (ne sıklıkla, ne kadar, ne zaman işlem yaptığı) ekleyerek, churn tahminini davranışsal sinyallere dayandırmak.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DEĞIŞKEN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(Kayıp Müşteri) Nasıl Tanımlanır?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etiketi, müşterinin gerçek işlem aktivitesinden — son işleminden bu yana geçen süreden — türetilir.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6400800" cy="228600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109728" cy="228600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94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</a:t>
            </a:r>
            <a:pPr indent="0" marL="0">
              <a:buNone/>
            </a:pPr>
            <a:r>
              <a:rPr lang="en-US" sz="15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son işlemden bu yana geçen gün sayısı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recency, en uzun %25'lik dilimde  </a:t>
            </a:r>
            <a:pPr indent="0" marL="0">
              <a:buNone/>
            </a:pPr>
            <a:r>
              <a:rPr lang="en-US" sz="1550" b="1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Churn = 1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süredir işlem yapmayan müşteriler kaybedilmiş kabul edilir — sektörün standart davranışsal churn tanımı (gerçek churn'ün bir vekili / proxy'si).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23760" y="2011680"/>
            <a:ext cx="4389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SINIF DENGESİ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%24.9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498080" y="3383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= churn (dengesiz sınıf)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3703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Dengesizlik, modelde class_weight='balanced' ile telafi edilir.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3529"/>
            </a:avLst>
          </a:prstGeom>
          <a:solidFill>
            <a:srgbClr val="EAF2F8"/>
          </a:solidFill>
          <a:ln w="19050">
            <a:solidFill>
              <a:srgbClr val="1CA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365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DAVRANIŞSAL TANIM?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Gerçek müşteri davranışını yansıtır; tek bir kolona bağlı değil, birçok özellik tarafından açıklanır.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 setindeki hazır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churn_probability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kolonu kullanılmaz: bu zaten türetilmiş bir tahmin değeridir ve hedef olarak kullanmak veri sızıntısı yaratır.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METODOLOJIK TITIZLIK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Sızıntısının (Data Leakage) Önlenmesi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gerçek performansını ölçebilmek için, eğitim sırasında geleceğe veya hedefe dair hiçbir bilginin sızmaması sağlanır.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50592"/>
            <a:ext cx="502920" cy="5029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Önce Böl, Sonra İşle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değer doldurma ve kodlama, train/test ayrımından SONRA yapılır. Medyan yalnızca eğitim setinden öğrenilir.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91440" cy="118872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776472"/>
            <a:ext cx="502920" cy="5029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776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520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Türetilmiş Kolonlar Dışlanır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churn_probability, CLV, clv_segment ve davranışa dayalı customer_segment / feedback_sentiment gibi hedefle dolaylı ilişkili kolonlar X'ten çıkarılır.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754880"/>
            <a:ext cx="91440" cy="118872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102352"/>
            <a:ext cx="502920" cy="50292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5102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 Sızıntısı Engellenir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846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recency'den tanımlandığı için, recency'yi doğrudan veren kolonlar (last_tx, tenure, frequency...) özelliklerden çıkarılır.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Özet İstatistikler ve Dağılımlar</a:t>
            </a:r>
            <a:endParaRPr lang="en-US" sz="2600" dirty="0"/>
          </a:p>
        </p:txBody>
      </p:sp>
      <p:pic>
        <p:nvPicPr>
          <p:cNvPr id="6" name="Image 0" descr="G:/Drive'ım/C_Ahmet_yedek/okul/3.sinif/2.dönem/Veri Madenciliği/proje/gorseller/eda_01_ozet_istatisti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2364" y="1371600"/>
            <a:ext cx="6576791" cy="155448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G:/Drive'ım/C_Ahmet_yedek/okul/3.sinif/2.dönem/Veri Madenciliği/proje/gorseller/eda_02_histogram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5844653" cy="35204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G:/Drive'ım/C_Ahmet_yedek/okul/3.sinif/2.dönem/Veri Madenciliği/proje/gorseller/eda_05_box_plo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063240"/>
            <a:ext cx="3931920" cy="1355561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7680960" y="5989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özniteliklerin dağılımları (histogram) ve kutu grafikleri (box plot) ile uç değerler incelendi.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 (EDA)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Sınıf Ayrımı ve İlişkiler</a:t>
            </a:r>
            <a:endParaRPr lang="en-US" sz="2600" dirty="0"/>
          </a:p>
        </p:txBody>
      </p:sp>
      <p:pic>
        <p:nvPicPr>
          <p:cNvPr id="6" name="Image 0" descr="G:/Drive'ım/C_Ahmet_yedek/okul/3.sinif/2.dönem/Veri Madenciliği/proje/gorseller/eda_06_box_plots_sin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7648"/>
            <a:ext cx="5486400" cy="2562545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G:/Drive'ım/C_Ahmet_yedek/okul/3.sinif/2.dönem/Veri Madenciliği/proje/gorseller/eda_09_matrix_korelasy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72197"/>
            <a:ext cx="5349240" cy="2233446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G:/Drive'ım/C_Ahmet_yedek/okul/3.sinif/2.dönem/Veri Madenciliği/proje/gorseller/eda_10_paralel_koordinat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78842"/>
            <a:ext cx="5486400" cy="2169396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9" name="Image 3" descr="G:/Drive'ım/C_Ahmet_yedek/okul/3.sinif/2.dönem/Veri Madenciliği/proje/gorseller/eda_11_yildiz_grafi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524" y="4297680"/>
            <a:ext cx="4979472" cy="233172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10" name="Text 4"/>
          <p:cNvSpPr/>
          <p:nvPr/>
        </p:nvSpPr>
        <p:spPr>
          <a:xfrm>
            <a:off x="548640" y="6537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Sınıfa göre box plot, korelasyon ısı haritası, paralel koordinatlar ve yıldız grafikleri ile churn sınıflarını ayıran öznitelikler incelendi.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İÇGÖRÜ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İşlem Hacmi ile Churn İlişkisi</a:t>
            </a:r>
            <a:endParaRPr lang="en-US" sz="2600" dirty="0"/>
          </a:p>
        </p:txBody>
      </p:sp>
      <p:pic>
        <p:nvPicPr>
          <p:cNvPr id="6" name="Image 0" descr="G:/Drive'ım/C_Ahmet_yedek/okul/3.sinif/2.dönem/Veri Madenciliği/proje/gorseller/churn_hacim_ilisk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46045"/>
            <a:ext cx="6675120" cy="4263191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7406640" y="1828800"/>
            <a:ext cx="4297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828800"/>
            <a:ext cx="91440" cy="411480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Davranışsal Sinyal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80960" y="26517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hacmi düştükçe churn oranı belirgin biçimde artıyor: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düşük hacimli dilim → %38 churn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yüksek hacimli dilim → %9 churn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monoton ilişki, churn'ün gerçek davranışla açıklanabildiğini ve modelin öğrenebileceği anlamlı bir örüntü olduğunu gösterir.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Ağacı ve Hiperparametre Tünelleme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işleme + model tek bir </a:t>
            </a:r>
            <a:pPr indent="0" marL="0">
              <a:buNone/>
            </a:pPr>
            <a:r>
              <a:rPr lang="en-US" sz="155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ColumnTransformer</a:t>
            </a:r>
            <a:pPr indent="0" marL="0">
              <a:buNone/>
            </a:pPr>
            <a:r>
              <a:rPr lang="en-US" sz="15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içindedir (sızıntıya karşı güvenli). Üzerinde </a:t>
            </a:r>
            <a:pPr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+ 5-katlı CV</a:t>
            </a:r>
            <a:pPr indent="0" marL="0">
              <a:buNone/>
            </a:pPr>
            <a:r>
              <a:rPr lang="en-US" sz="15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uygulanır; dengesizlik için class_weight='balanced'.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00" cy="5486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ARANAN PARAMETRE UZAYI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[ 4, 5, 6, 8 ]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6301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83280" y="3630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[ 20, 50, 100 ]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970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41970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'gini', 'entropy' 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Validation, F1 skoruna göre optimize edildi.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5303520" cy="40233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286000"/>
            <a:ext cx="109728" cy="4023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SEÇİLEN EN İYİ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0" y="32004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A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867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0" y="391363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A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0" y="39136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9400" y="45811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144000" y="4626864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13315C"/>
          </a:solidFill>
          <a:ln w="12700">
            <a:solidFill>
              <a:srgbClr val="1CA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46268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29400" y="54406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Sığ ağaç + yaprak kısıtı → aşırı öğrenmeye karşı koruma ve yüksek açıklanabilirlik.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Performansı (Görülmemiş %20 Test Seti)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20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A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352044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A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%75.9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· churn'ü yakalama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371600"/>
            <a:ext cx="3520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A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371600"/>
            <a:ext cx="352044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536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A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0.751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3400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487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Ayırt etme gücü (öğrenme kanıtı)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204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A39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371600"/>
            <a:ext cx="3520440" cy="914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5361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A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%69.4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21284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Dengeli Doğruluk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4871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2944368"/>
            <a:ext cx="3520440" cy="914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08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%66.1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548640" y="3785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059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43400" y="294436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43400" y="2944368"/>
            <a:ext cx="3520440" cy="914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3108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%40.4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343400" y="3785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Hassasiyet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34840" y="4059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38160" y="294436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2944368"/>
            <a:ext cx="3520440" cy="914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31089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%52.7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138160" y="378561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F1-Skor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40599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Denge ölçüsü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526280"/>
            <a:ext cx="11064240" cy="1920240"/>
          </a:xfrm>
          <a:prstGeom prst="roundRect">
            <a:avLst>
              <a:gd name="adj" fmla="val 333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14400" y="469087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 DOĞRULUK NEDEN BİR ZAYIFLIK DEĞİL?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öğrendi mi?  EVET.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0.751 (rastgele = 0.5) ve Dengeli Doğruluk %69.4, gerçek bir öğrenmeyi kanıtlar.
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“Herkes kalır” diyen aptal taban %75 doğruluk alır ama 2428 kayıp müşteriden 0'ını yakalar.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Bizim model 1842'sini (%75.9) yakalar.
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Dengesiz veride ham doğruluk yanıltıcıdır; asıl başarı Recall, AUC ve Balanced Accuracy ile ölçülür.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DEĞERLENDIRME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Karmaşıklık Matrisi · Özellik Önemleri · ROC</a:t>
            </a:r>
            <a:endParaRPr lang="en-US" sz="2600" dirty="0"/>
          </a:p>
        </p:txBody>
      </p:sp>
      <p:pic>
        <p:nvPicPr>
          <p:cNvPr id="6" name="Image 0" descr="G:/Drive'ım/C_Ahmet_yedek/okul/3.sinif/2.dönem/Veri Madenciliği/proje/gorseller/churn_degerlendir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1284"/>
            <a:ext cx="7315200" cy="3215432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G:/Drive'ım/C_Ahmet_yedek/okul/3.sinif/2.dönem/Veri Madenciliği/proje/gorseller/churn_r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39760"/>
            <a:ext cx="3931920" cy="3778479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AF2F8"/>
          </a:solidFill>
          <a:ln w="19050">
            <a:solidFill>
              <a:srgbClr val="1CA3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etkili özellikler:  </a:t>
            </a:r>
            <a:pPr indent="0" marL="0">
              <a:buNone/>
            </a:pPr>
            <a:r>
              <a:rPr lang="en-US" sz="1400" b="1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total_transaction_volume</a:t>
            </a:r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  </a:t>
            </a:r>
            <a:pPr indent="0" marL="0">
              <a:buNone/>
            </a:pPr>
            <a:r>
              <a:rPr lang="en-US" sz="1400" b="1" dirty="0">
                <a:solidFill>
                  <a:srgbClr val="1CA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average_transaction_value</a:t>
            </a:r>
            <a:pPr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Churn, esas olarak müşterinin işlem hacmi ve değeriyle açıklanıyor.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SEÇIMI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Karar Ağacı? — Baseline Karşılaştırması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Ağacı, aynı ön işlemeyle eğitilen basit taban modellerle (Dummy, Lojistik Regresyon, Naive Bayes) karşılaştırıldı.</a:t>
            </a:r>
            <a:endParaRPr lang="en-US" sz="1500" dirty="0"/>
          </a:p>
        </p:txBody>
      </p:sp>
      <p:pic>
        <p:nvPicPr>
          <p:cNvPr id="7" name="Image 0" descr="G:/Drive'ım/C_Ahmet_yedek/okul/3.sinif/2.dönem/Veri Madenciliği/proje/gorseller/model_baseline_karsilastir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50513"/>
            <a:ext cx="6949440" cy="3420014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7635240" y="2057400"/>
            <a:ext cx="4069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635240" y="2057400"/>
            <a:ext cx="91440" cy="420624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10" name="Text 7"/>
          <p:cNvSpPr/>
          <p:nvPr/>
        </p:nvSpPr>
        <p:spPr>
          <a:xfrm>
            <a:off x="7909560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Ağacı Tüm Tabanları Geçiyor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909560" y="292608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karşılaştırması: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Karar Ağacı →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Lojistik Regresyon → 0.702
• Naive Bayes → 0.586
• Dummy (taban) → 0.500
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karşılaştırma “Neden Karar Ağacı?” sorusunu nesnel olarak yanıtlar: model, basit alternatiflerden ve naif tabandan anlamlı biçimde daha iyidir.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AÇIKLANABILIRLIK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Ağacı Yapısının Görselleştirilmesi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Ağacın ilk seviyeleri: model churn kararını hangi özellik ve eşiklerle veriyor — kökte işlem hacmi yer alıyor.</a:t>
            </a:r>
            <a:endParaRPr lang="en-US" sz="1400" dirty="0"/>
          </a:p>
        </p:txBody>
      </p:sp>
      <p:pic>
        <p:nvPicPr>
          <p:cNvPr id="7" name="Image 0" descr="G:/Drive'ım/C_Ahmet_yedek/okul/3.sinif/2.dönem/Veri Madenciliği/proje/gorseller/churn_kararaga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38" y="1920240"/>
            <a:ext cx="10992044" cy="470916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43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61520" cy="54864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TARTIŞMA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Akademik Literatür ile Karşılaştırma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20116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Çalışma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Literatür Ort.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Duyarlılık (Recall)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C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%75.9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%60 – %75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müşterileri yakalama oranı literatürün üstünde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C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– 0.85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Ayırt etme gücü literatür aralığına yakın, inandırıcı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F1-Skor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C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%52.7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%70 – %78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Dengesiz veride recall önceliğinin doğal sonucu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C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%66.1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%80 – %85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başına yanıltıcı; dengesiz sınıfta recall daha kritik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2F8"/>
          </a:solidFill>
          <a:ln w="19050">
            <a:solidFill>
              <a:srgbClr val="1CA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85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C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Recall ve ROC-AUC değerleri akademik literatür aralığındadır → savunulabilir, gerçekçi bir performans.  Düşük doğruluk, dengesiz hedefte kayıpları öncelemenin bilinen bedelidir.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aralığı örn.: Tran, H.D., Le, N. &amp; Nguyen, V.-H. (2023). Customer churn prediction in the banking sector using ML-based classification models. Interdiscip. J. Inf. Knowl. Manag., 18, 87–105.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A39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Sonuçlar ve İş Önerileri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0120" y="1737360"/>
            <a:ext cx="219456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8FD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 karar ağacı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müşterinin işlem davranışından churn riskini gerçekçi bir başarıyla tahmin eder ve banka için somut aksiyonlar üretir: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3063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işlem hacmi = risk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belirleyici özellik total_transaction_volume; işlem hacmi düşen müşteriler erkenden tespit edilip hedeflenmeli.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60120" y="4087368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404164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Kayıpların ¾'ü yakalanabilir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gerçek churn müşterilerinin %75.9'unu doğru işaretler — proaktif tutundurma için yeterli kapsama.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60120" y="5111496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506577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 odaklı kampanya
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segmentine bildirim, teşvik ve kişiselleştirilmiş kampanyalarla bağlılık artırılabilir.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BLM463 · Karar Ağacı ile Churn Analizi  —  Ahmet Yılmaz (22360859044)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Karar Ağacı ile Müşteri Kayıp (Churn) Analizi</dc:title>
  <dc:subject>PptxGenJS Presentation</dc:subject>
  <dc:creator>Ahmet Yılmaz</dc:creator>
  <cp:lastModifiedBy>Ahmet Yılmaz</cp:lastModifiedBy>
  <cp:revision>1</cp:revision>
  <dcterms:created xsi:type="dcterms:W3CDTF">2026-06-06T11:44:12Z</dcterms:created>
  <dcterms:modified xsi:type="dcterms:W3CDTF">2026-06-06T11:44:12Z</dcterms:modified>
</cp:coreProperties>
</file>